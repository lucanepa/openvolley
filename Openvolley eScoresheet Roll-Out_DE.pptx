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92" autoAdjust="0"/>
    <p:restoredTop sz="94660"/>
  </p:normalViewPr>
  <p:slideViewPr>
    <p:cSldViewPr snapToGrid="0">
      <p:cViewPr varScale="1">
        <p:scale>
          <a:sx n="94" d="100"/>
          <a:sy n="94" d="100"/>
        </p:scale>
        <p:origin x="240" y="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5C2FA-C3FA-88AE-E2A9-CB03DD2BA3B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75EA330-D1AA-13DF-27EB-52146A55C0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8F324597-D69A-717A-586B-6F9E3BE43F1D}"/>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5" name="Footer Placeholder 4">
            <a:extLst>
              <a:ext uri="{FF2B5EF4-FFF2-40B4-BE49-F238E27FC236}">
                <a16:creationId xmlns:a16="http://schemas.microsoft.com/office/drawing/2014/main" id="{A3C56A3F-1BC6-C3A9-529C-E8A091D9DB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AEADD2-6B27-30DA-FAB7-75C96B4E31DA}"/>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1147456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9B04A-9FB8-886B-CE1D-5DF02B94A34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0546762-0FBF-19DA-25B5-23A4A1A27D9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6B05345-D46C-7636-B943-3E02975CFAB4}"/>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5" name="Footer Placeholder 4">
            <a:extLst>
              <a:ext uri="{FF2B5EF4-FFF2-40B4-BE49-F238E27FC236}">
                <a16:creationId xmlns:a16="http://schemas.microsoft.com/office/drawing/2014/main" id="{53174812-99EE-1AD7-9845-77131DB933E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7BC614F-E05F-CBEC-04A3-DA07ECEFAA33}"/>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524746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810B-F84E-D9AE-E77F-02AE9AE802E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D4D39A98-1E1F-2EAE-7D1A-46157DBF05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8E7E1A4-87E8-9AF4-24D1-214EF3AAC41A}"/>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5" name="Footer Placeholder 4">
            <a:extLst>
              <a:ext uri="{FF2B5EF4-FFF2-40B4-BE49-F238E27FC236}">
                <a16:creationId xmlns:a16="http://schemas.microsoft.com/office/drawing/2014/main" id="{878765B2-FA58-D103-E027-B7A87BDF1D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00E9F3-4BFE-10AC-0451-D9E27EC0A41D}"/>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236895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FD112-9681-D986-FA41-319AC2BD35F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0E19550-0661-C53E-6E0A-703E4BC7899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DCD76F-8654-FEC9-E8B0-AB1CF6EAEA6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FE4068F1-44C4-80EA-E76B-0B0DC2D6328C}"/>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6" name="Footer Placeholder 5">
            <a:extLst>
              <a:ext uri="{FF2B5EF4-FFF2-40B4-BE49-F238E27FC236}">
                <a16:creationId xmlns:a16="http://schemas.microsoft.com/office/drawing/2014/main" id="{0797D435-5C05-8278-02A7-03FAE0CA796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73E235F-98F6-AB27-DC95-2FC650EA9312}"/>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692683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79780-2A9A-1677-FA0A-7FBF4661D94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1565FA11-3A80-C24F-124B-557CDDEA01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74F1B20-F4E1-F2D7-E770-74B749F9F9B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D23FC738-F517-F136-D26F-A1F2E25DF0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1F319C7-1E5D-DDDA-2EEF-DB72AEFA3C3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576D45C-0FA5-E12B-5021-E5FC0DFECF69}"/>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8" name="Footer Placeholder 7">
            <a:extLst>
              <a:ext uri="{FF2B5EF4-FFF2-40B4-BE49-F238E27FC236}">
                <a16:creationId xmlns:a16="http://schemas.microsoft.com/office/drawing/2014/main" id="{5AE05CE7-F862-9DAF-4603-70103D29B11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C76B1FC-A4A6-9F61-356F-F2E9FB709902}"/>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522915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745F2-9B9A-CB38-BBBF-1178585C71D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6102F2E-A271-FC88-2967-79E9B2C03874}"/>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4" name="Footer Placeholder 3">
            <a:extLst>
              <a:ext uri="{FF2B5EF4-FFF2-40B4-BE49-F238E27FC236}">
                <a16:creationId xmlns:a16="http://schemas.microsoft.com/office/drawing/2014/main" id="{A9ED3EB8-AB02-BB04-1A2D-C3FAE0D07A8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2A39E3F-D405-0264-6074-CE920CD6B42A}"/>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522172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3706BD-37B2-0A50-C85C-265C9E5BA112}"/>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3" name="Footer Placeholder 2">
            <a:extLst>
              <a:ext uri="{FF2B5EF4-FFF2-40B4-BE49-F238E27FC236}">
                <a16:creationId xmlns:a16="http://schemas.microsoft.com/office/drawing/2014/main" id="{724D8A16-65D1-9B4D-055A-8DD538F2FFE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B8DA3C2-D36F-974A-5835-5C150BCDD30D}"/>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4113431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37EA6-3BA4-2EED-EC36-F1C6448CB1B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279DE30B-B008-FA1F-286D-5A463DE24D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929E27E2-0E97-7977-3A8D-43603592FC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AE38C30-2C4C-05D3-F392-10D41E9E989C}"/>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6" name="Footer Placeholder 5">
            <a:extLst>
              <a:ext uri="{FF2B5EF4-FFF2-40B4-BE49-F238E27FC236}">
                <a16:creationId xmlns:a16="http://schemas.microsoft.com/office/drawing/2014/main" id="{64A7105B-699E-1B24-44CF-60C7E8CBFF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5F04A4D-205D-524C-FD74-7DDD48BF6F02}"/>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3174469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AB4EA-7C60-8F63-19A8-63D4C85EB6C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4053B653-DCE5-8993-8696-C6E262E207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B5D6781-28E5-2286-485A-A821B7870B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15FEC9C-9388-96D0-01AE-2B3C66628D3B}"/>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6" name="Footer Placeholder 5">
            <a:extLst>
              <a:ext uri="{FF2B5EF4-FFF2-40B4-BE49-F238E27FC236}">
                <a16:creationId xmlns:a16="http://schemas.microsoft.com/office/drawing/2014/main" id="{BE1069E4-690D-6C8B-E4EC-E5ED1491146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DF22C36-932B-4C7C-F00B-700B3B00526E}"/>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1524417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070B-3DD5-B3DC-8113-F001865EC5C6}"/>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A0DAC5A1-3165-0466-EB4D-C7165822C46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8125222-3465-8F75-F4EE-CE5060CFFC7F}"/>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5" name="Footer Placeholder 4">
            <a:extLst>
              <a:ext uri="{FF2B5EF4-FFF2-40B4-BE49-F238E27FC236}">
                <a16:creationId xmlns:a16="http://schemas.microsoft.com/office/drawing/2014/main" id="{BD880D08-9268-CE02-B07D-B6DD02C2AD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55E026A-1E35-7581-D2D3-0D470D53E033}"/>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2166849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3CEB13-174D-7936-5C08-2B6886429CDE}"/>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54F77E2-82E6-B760-BF86-64ACF984431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5F34147-64B7-3019-F509-0476E420A8F8}"/>
              </a:ext>
            </a:extLst>
          </p:cNvPr>
          <p:cNvSpPr>
            <a:spLocks noGrp="1"/>
          </p:cNvSpPr>
          <p:nvPr>
            <p:ph type="dt" sz="half" idx="10"/>
          </p:nvPr>
        </p:nvSpPr>
        <p:spPr/>
        <p:txBody>
          <a:bodyPr/>
          <a:lstStyle/>
          <a:p>
            <a:fld id="{DF5A0346-8D06-47FB-B027-0BB2D4BB6A7E}" type="datetimeFigureOut">
              <a:rPr lang="en-GB" smtClean="0"/>
              <a:t>15/01/2026</a:t>
            </a:fld>
            <a:endParaRPr lang="en-GB"/>
          </a:p>
        </p:txBody>
      </p:sp>
      <p:sp>
        <p:nvSpPr>
          <p:cNvPr id="5" name="Footer Placeholder 4">
            <a:extLst>
              <a:ext uri="{FF2B5EF4-FFF2-40B4-BE49-F238E27FC236}">
                <a16:creationId xmlns:a16="http://schemas.microsoft.com/office/drawing/2014/main" id="{1471F8F6-992F-F82F-DA4A-6B655CC3541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CC8859-2EA3-0D8E-6469-D8AC65609226}"/>
              </a:ext>
            </a:extLst>
          </p:cNvPr>
          <p:cNvSpPr>
            <a:spLocks noGrp="1"/>
          </p:cNvSpPr>
          <p:nvPr>
            <p:ph type="sldNum" sz="quarter" idx="12"/>
          </p:nvPr>
        </p:nvSpPr>
        <p:spPr/>
        <p:txBody>
          <a:bodyPr/>
          <a:lstStyle/>
          <a:p>
            <a:fld id="{4544CC49-56F6-4A08-B20E-97AC0CC43332}" type="slidenum">
              <a:rPr lang="en-GB" smtClean="0"/>
              <a:t>‹#›</a:t>
            </a:fld>
            <a:endParaRPr lang="en-GB"/>
          </a:p>
        </p:txBody>
      </p:sp>
    </p:spTree>
    <p:extLst>
      <p:ext uri="{BB962C8B-B14F-4D97-AF65-F5344CB8AC3E}">
        <p14:creationId xmlns:p14="http://schemas.microsoft.com/office/powerpoint/2010/main" val="3753815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9FE03C-74B2-4546-B6C5-1C7D5BD231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7FE44840-323D-4BE8-124B-7425E8B0CF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2A49F27-1250-503E-C1BB-5DCC0DE84D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5A0346-8D06-47FB-B027-0BB2D4BB6A7E}" type="datetimeFigureOut">
              <a:rPr lang="en-GB" smtClean="0"/>
              <a:t>15/01/2026</a:t>
            </a:fld>
            <a:endParaRPr lang="en-GB"/>
          </a:p>
        </p:txBody>
      </p:sp>
      <p:sp>
        <p:nvSpPr>
          <p:cNvPr id="5" name="Footer Placeholder 4">
            <a:extLst>
              <a:ext uri="{FF2B5EF4-FFF2-40B4-BE49-F238E27FC236}">
                <a16:creationId xmlns:a16="http://schemas.microsoft.com/office/drawing/2014/main" id="{BB2EA672-1F23-EB7B-BD10-9E6FC97360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CBF9DB8-C35C-9823-34C1-E9AC3C05D4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44CC49-56F6-4A08-B20E-97AC0CC43332}" type="slidenum">
              <a:rPr lang="en-GB" smtClean="0"/>
              <a:t>‹#›</a:t>
            </a:fld>
            <a:endParaRPr lang="en-GB"/>
          </a:p>
        </p:txBody>
      </p:sp>
    </p:spTree>
    <p:extLst>
      <p:ext uri="{BB962C8B-B14F-4D97-AF65-F5344CB8AC3E}">
        <p14:creationId xmlns:p14="http://schemas.microsoft.com/office/powerpoint/2010/main" val="1032764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referee.openvolley.app" TargetMode="External"/><Relationship Id="rId7" Type="http://schemas.openxmlformats.org/officeDocument/2006/relationships/image" Target="../media/image2.png"/><Relationship Id="rId2" Type="http://schemas.openxmlformats.org/officeDocument/2006/relationships/hyperlink" Target="app.openvolley.app" TargetMode="External"/><Relationship Id="rId1" Type="http://schemas.openxmlformats.org/officeDocument/2006/relationships/slideLayout" Target="../slideLayouts/slideLayout2.xml"/><Relationship Id="rId6" Type="http://schemas.openxmlformats.org/officeDocument/2006/relationships/hyperlink" Target="roster.openvolley.app" TargetMode="External"/><Relationship Id="rId5" Type="http://schemas.openxmlformats.org/officeDocument/2006/relationships/hyperlink" Target="bench.openvolley.app" TargetMode="External"/><Relationship Id="rId4" Type="http://schemas.openxmlformats.org/officeDocument/2006/relationships/hyperlink" Target="livescore.openvolley.app"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5DD31-27B4-94E4-3891-134DED0EB214}"/>
              </a:ext>
            </a:extLst>
          </p:cNvPr>
          <p:cNvSpPr>
            <a:spLocks noGrp="1"/>
          </p:cNvSpPr>
          <p:nvPr>
            <p:ph type="ctrTitle"/>
          </p:nvPr>
        </p:nvSpPr>
        <p:spPr>
          <a:xfrm>
            <a:off x="1524000" y="336347"/>
            <a:ext cx="9144000" cy="1099935"/>
          </a:xfrm>
        </p:spPr>
        <p:txBody>
          <a:bodyPr/>
          <a:lstStyle/>
          <a:p>
            <a:r>
              <a:rPr lang="en-US" dirty="0" err="1"/>
              <a:t>Openvolley</a:t>
            </a:r>
            <a:r>
              <a:rPr lang="en-US" dirty="0"/>
              <a:t> </a:t>
            </a:r>
            <a:r>
              <a:rPr lang="en-US" dirty="0" err="1"/>
              <a:t>eScoresheet</a:t>
            </a:r>
            <a:endParaRPr lang="en-GB" dirty="0"/>
          </a:p>
        </p:txBody>
      </p:sp>
      <p:sp>
        <p:nvSpPr>
          <p:cNvPr id="3" name="Subtitle 2">
            <a:extLst>
              <a:ext uri="{FF2B5EF4-FFF2-40B4-BE49-F238E27FC236}">
                <a16:creationId xmlns:a16="http://schemas.microsoft.com/office/drawing/2014/main" id="{1D3729D8-5DDB-6826-8D8F-6E1DDEAAD9D7}"/>
              </a:ext>
            </a:extLst>
          </p:cNvPr>
          <p:cNvSpPr>
            <a:spLocks noGrp="1"/>
          </p:cNvSpPr>
          <p:nvPr>
            <p:ph type="subTitle" idx="1"/>
          </p:nvPr>
        </p:nvSpPr>
        <p:spPr>
          <a:xfrm>
            <a:off x="1524000" y="4907756"/>
            <a:ext cx="9144000" cy="1655762"/>
          </a:xfrm>
        </p:spPr>
        <p:txBody>
          <a:bodyPr/>
          <a:lstStyle/>
          <a:p>
            <a:r>
              <a:rPr lang="en-US" dirty="0">
                <a:latin typeface="+mj-lt"/>
              </a:rPr>
              <a:t>Roll-out info</a:t>
            </a:r>
            <a:endParaRPr lang="en-GB" dirty="0">
              <a:latin typeface="+mj-lt"/>
            </a:endParaRPr>
          </a:p>
        </p:txBody>
      </p:sp>
      <p:pic>
        <p:nvPicPr>
          <p:cNvPr id="5" name="Picture 4" descr="A logo of a volleyball&#10;&#10;AI-generated content may be incorrect.">
            <a:extLst>
              <a:ext uri="{FF2B5EF4-FFF2-40B4-BE49-F238E27FC236}">
                <a16:creationId xmlns:a16="http://schemas.microsoft.com/office/drawing/2014/main" id="{AA9322D3-049E-E184-CA0B-13A9EE823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8872" y="1287463"/>
            <a:ext cx="4134255" cy="4134255"/>
          </a:xfrm>
          <a:prstGeom prst="rect">
            <a:avLst/>
          </a:prstGeom>
        </p:spPr>
      </p:pic>
    </p:spTree>
    <p:extLst>
      <p:ext uri="{BB962C8B-B14F-4D97-AF65-F5344CB8AC3E}">
        <p14:creationId xmlns:p14="http://schemas.microsoft.com/office/powerpoint/2010/main" val="1239744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3EFC1-F711-781C-9338-5AC323B7D2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8859D0-3D1D-EC71-2BD2-8ADAC96867C6}"/>
              </a:ext>
            </a:extLst>
          </p:cNvPr>
          <p:cNvSpPr>
            <a:spLocks noGrp="1"/>
          </p:cNvSpPr>
          <p:nvPr>
            <p:ph type="title"/>
          </p:nvPr>
        </p:nvSpPr>
        <p:spPr/>
        <p:txBody>
          <a:bodyPr/>
          <a:lstStyle/>
          <a:p>
            <a:r>
              <a:rPr lang="en-US" dirty="0"/>
              <a:t>Info</a:t>
            </a:r>
            <a:endParaRPr lang="en-GB" dirty="0"/>
          </a:p>
        </p:txBody>
      </p:sp>
      <p:sp>
        <p:nvSpPr>
          <p:cNvPr id="3" name="Content Placeholder 2">
            <a:extLst>
              <a:ext uri="{FF2B5EF4-FFF2-40B4-BE49-F238E27FC236}">
                <a16:creationId xmlns:a16="http://schemas.microsoft.com/office/drawing/2014/main" id="{80A3E5AB-BFDD-11C2-05BC-3D5FCE1523FA}"/>
              </a:ext>
            </a:extLst>
          </p:cNvPr>
          <p:cNvSpPr>
            <a:spLocks noGrp="1"/>
          </p:cNvSpPr>
          <p:nvPr>
            <p:ph idx="1"/>
          </p:nvPr>
        </p:nvSpPr>
        <p:spPr/>
        <p:txBody>
          <a:bodyPr>
            <a:normAutofit/>
          </a:bodyPr>
          <a:lstStyle/>
          <a:p>
            <a:pPr algn="just"/>
            <a:r>
              <a:rPr lang="de-DE" dirty="0" err="1">
                <a:hlinkClick r:id="rId2" action="ppaction://hlinkfile"/>
              </a:rPr>
              <a:t>app.openvolley.app</a:t>
            </a:r>
            <a:r>
              <a:rPr lang="de-DE" dirty="0"/>
              <a:t>: Haupt-</a:t>
            </a:r>
            <a:r>
              <a:rPr lang="de-DE" dirty="0" err="1"/>
              <a:t>Scoresheet</a:t>
            </a:r>
            <a:r>
              <a:rPr lang="de-DE" dirty="0"/>
              <a:t>-Anwendung, aber ich habe parallel hinzugefügt</a:t>
            </a:r>
          </a:p>
          <a:p>
            <a:pPr algn="just"/>
            <a:r>
              <a:rPr lang="de-DE" dirty="0">
                <a:hlinkClick r:id="rId3" action="ppaction://hlinkfile"/>
              </a:rPr>
              <a:t>„Schiedsrichter-Dashboard“ </a:t>
            </a:r>
            <a:r>
              <a:rPr lang="de-DE" dirty="0"/>
              <a:t>(Schiedsrichter-Tablets, können auf jedem Gerät </a:t>
            </a:r>
            <a:r>
              <a:rPr lang="de-DE" dirty="0" err="1"/>
              <a:t>einschliesslich</a:t>
            </a:r>
            <a:r>
              <a:rPr lang="de-DE" dirty="0"/>
              <a:t> der eigenen Smartphones des Schiedsrichters verwendet werden)</a:t>
            </a:r>
          </a:p>
          <a:p>
            <a:pPr algn="just"/>
            <a:r>
              <a:rPr lang="de-DE" dirty="0">
                <a:hlinkClick r:id="rId4" action="ppaction://hlinkfile"/>
              </a:rPr>
              <a:t>„Livescore“</a:t>
            </a:r>
            <a:endParaRPr lang="de-DE" dirty="0"/>
          </a:p>
          <a:p>
            <a:pPr algn="just"/>
            <a:r>
              <a:rPr lang="de-DE" dirty="0">
                <a:hlinkClick r:id="rId5" action="ppaction://hlinkfile"/>
              </a:rPr>
              <a:t>„Bench-Dashboard“ </a:t>
            </a:r>
            <a:r>
              <a:rPr lang="de-DE" dirty="0"/>
              <a:t>(noch in Entwicklung, noch keine SUB/TO-Anfrage-Funktion)</a:t>
            </a:r>
          </a:p>
          <a:p>
            <a:pPr algn="just"/>
            <a:r>
              <a:rPr lang="de-DE" dirty="0">
                <a:hlinkClick r:id="rId6" action="ppaction://hlinkfile"/>
              </a:rPr>
              <a:t>„Kader-Upload“ </a:t>
            </a:r>
            <a:r>
              <a:rPr lang="de-DE" dirty="0"/>
              <a:t>(noch in Entwicklung)</a:t>
            </a:r>
            <a:endParaRPr lang="en-GB" dirty="0"/>
          </a:p>
        </p:txBody>
      </p:sp>
      <p:pic>
        <p:nvPicPr>
          <p:cNvPr id="5" name="Picture 4" descr="A green and blue volleyball&#10;&#10;AI-generated content may be incorrect.">
            <a:extLst>
              <a:ext uri="{FF2B5EF4-FFF2-40B4-BE49-F238E27FC236}">
                <a16:creationId xmlns:a16="http://schemas.microsoft.com/office/drawing/2014/main" id="{54A5433C-F53F-2C02-8775-B378D4731D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43353" y="-338847"/>
            <a:ext cx="2994498" cy="2994498"/>
          </a:xfrm>
          <a:prstGeom prst="rect">
            <a:avLst/>
          </a:prstGeom>
        </p:spPr>
      </p:pic>
    </p:spTree>
    <p:extLst>
      <p:ext uri="{BB962C8B-B14F-4D97-AF65-F5344CB8AC3E}">
        <p14:creationId xmlns:p14="http://schemas.microsoft.com/office/powerpoint/2010/main" val="1687925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4339E-FF1D-5A1F-DF60-B1D778042B10}"/>
              </a:ext>
            </a:extLst>
          </p:cNvPr>
          <p:cNvSpPr>
            <a:spLocks noGrp="1"/>
          </p:cNvSpPr>
          <p:nvPr>
            <p:ph type="title"/>
          </p:nvPr>
        </p:nvSpPr>
        <p:spPr/>
        <p:txBody>
          <a:bodyPr/>
          <a:lstStyle/>
          <a:p>
            <a:r>
              <a:rPr lang="en-US" dirty="0" err="1"/>
              <a:t>Jetzt</a:t>
            </a:r>
            <a:endParaRPr lang="en-GB" dirty="0"/>
          </a:p>
        </p:txBody>
      </p:sp>
      <p:sp>
        <p:nvSpPr>
          <p:cNvPr id="3" name="Content Placeholder 2">
            <a:extLst>
              <a:ext uri="{FF2B5EF4-FFF2-40B4-BE49-F238E27FC236}">
                <a16:creationId xmlns:a16="http://schemas.microsoft.com/office/drawing/2014/main" id="{21278DDE-ACA0-6E14-7232-9FEE97A737B8}"/>
              </a:ext>
            </a:extLst>
          </p:cNvPr>
          <p:cNvSpPr>
            <a:spLocks noGrp="1"/>
          </p:cNvSpPr>
          <p:nvPr>
            <p:ph idx="1"/>
          </p:nvPr>
        </p:nvSpPr>
        <p:spPr>
          <a:xfrm>
            <a:off x="838200" y="1845945"/>
            <a:ext cx="10515600" cy="4351338"/>
          </a:xfrm>
        </p:spPr>
        <p:txBody>
          <a:bodyPr>
            <a:normAutofit fontScale="55000" lnSpcReduction="20000"/>
          </a:bodyPr>
          <a:lstStyle/>
          <a:p>
            <a:pPr marL="0" indent="0" algn="just">
              <a:buNone/>
            </a:pPr>
            <a:r>
              <a:rPr lang="de-DE" dirty="0"/>
              <a:t>Hauptmerkmale der App: </a:t>
            </a:r>
          </a:p>
          <a:p>
            <a:pPr marL="0" indent="0" algn="just">
              <a:buNone/>
            </a:pPr>
            <a:r>
              <a:rPr lang="de-DE" dirty="0"/>
              <a:t>• Kann offline oder online verwendet werden (online sind Dashboards und Cloud-Backup sowie Wiederherstellung bei Problemen möglich) </a:t>
            </a:r>
          </a:p>
          <a:p>
            <a:pPr marL="0" indent="0" algn="just">
              <a:buNone/>
            </a:pPr>
            <a:r>
              <a:rPr lang="de-DE" dirty="0"/>
              <a:t>• Funktioniert auch mit Tablets (mindestens 800 x 600 </a:t>
            </a:r>
            <a:r>
              <a:rPr lang="de-DE" dirty="0" err="1"/>
              <a:t>px</a:t>
            </a:r>
            <a:r>
              <a:rPr lang="de-DE" dirty="0"/>
              <a:t>, 7-Zoll-Tablets), sodass kein Laptop erforderlich ist </a:t>
            </a:r>
          </a:p>
          <a:p>
            <a:pPr marL="0" indent="0" algn="just">
              <a:buNone/>
            </a:pPr>
            <a:r>
              <a:rPr lang="de-DE" dirty="0"/>
              <a:t>• Kann unter Windows, </a:t>
            </a:r>
            <a:r>
              <a:rPr lang="de-DE" dirty="0" err="1"/>
              <a:t>macOS</a:t>
            </a:r>
            <a:r>
              <a:rPr lang="de-DE" dirty="0"/>
              <a:t>, Linux, Android und </a:t>
            </a:r>
            <a:r>
              <a:rPr lang="de-DE" dirty="0" err="1"/>
              <a:t>AppleOS</a:t>
            </a:r>
            <a:r>
              <a:rPr lang="de-DE" dirty="0"/>
              <a:t> verwendet werden, solange ein Browser verwendet wird</a:t>
            </a:r>
          </a:p>
          <a:p>
            <a:pPr marL="0" indent="0" algn="just">
              <a:buNone/>
            </a:pPr>
            <a:r>
              <a:rPr lang="de-DE" dirty="0"/>
              <a:t>• Sie können die App (PWA) für die Offline-Nutzung herunterladen, falls das Fitnessstudio keine Verbindung hat. </a:t>
            </a:r>
          </a:p>
          <a:p>
            <a:pPr marL="0" indent="0" algn="just">
              <a:buNone/>
            </a:pPr>
            <a:r>
              <a:rPr lang="de-DE" dirty="0"/>
              <a:t>• Kann über den Browser genutzt werden, keine Installation erforderlich. </a:t>
            </a:r>
          </a:p>
          <a:p>
            <a:pPr marL="0" indent="0" algn="just">
              <a:buNone/>
            </a:pPr>
            <a:r>
              <a:rPr lang="de-DE" dirty="0"/>
              <a:t>• Ich habe sie auf Englisch entwickelt, aber Übersetzungen ins Italienische, Französische, Deutsche und Schweizerische Deutsch sind verfügbar.</a:t>
            </a:r>
          </a:p>
          <a:p>
            <a:pPr marL="0" indent="0" algn="just">
              <a:buNone/>
            </a:pPr>
            <a:r>
              <a:rPr lang="de-DE" dirty="0"/>
              <a:t>•Keine Roster-Datenbank erforderlich, kann die Einsatzliste als PDF lesen und laden, wenn sie über PC/Telefon geladen wurde. </a:t>
            </a:r>
          </a:p>
          <a:p>
            <a:pPr marL="0" indent="0" algn="just">
              <a:buNone/>
            </a:pPr>
            <a:r>
              <a:rPr lang="de-DE" dirty="0"/>
              <a:t>•Der Punktrichter kann, wenn er möchte, das Punkteblatt bereits am Vortag oder zu Hause vor dem Spiel „vorbereiten“, und die Teams können die Liste und die Spielernummern bereits vorher laden, was die Arbeitsbelastung in der Sporthalle erheblich reduziert.</a:t>
            </a:r>
          </a:p>
          <a:p>
            <a:pPr marL="0" indent="0" algn="just">
              <a:buNone/>
            </a:pPr>
            <a:r>
              <a:rPr lang="de-DE" dirty="0"/>
              <a:t> •Keine Passwortlogik (z. B. Dataproject), sondern Signaturpads.</a:t>
            </a:r>
          </a:p>
          <a:p>
            <a:pPr algn="just"/>
            <a:endParaRPr lang="en-GB" dirty="0"/>
          </a:p>
        </p:txBody>
      </p:sp>
      <p:pic>
        <p:nvPicPr>
          <p:cNvPr id="5" name="Picture 4" descr="A green and blue volleyball&#10;&#10;AI-generated content may be incorrect.">
            <a:extLst>
              <a:ext uri="{FF2B5EF4-FFF2-40B4-BE49-F238E27FC236}">
                <a16:creationId xmlns:a16="http://schemas.microsoft.com/office/drawing/2014/main" id="{8918C8BE-13B0-7B85-068D-0563920F0A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353" y="-338847"/>
            <a:ext cx="2994498" cy="2994498"/>
          </a:xfrm>
          <a:prstGeom prst="rect">
            <a:avLst/>
          </a:prstGeom>
        </p:spPr>
      </p:pic>
    </p:spTree>
    <p:extLst>
      <p:ext uri="{BB962C8B-B14F-4D97-AF65-F5344CB8AC3E}">
        <p14:creationId xmlns:p14="http://schemas.microsoft.com/office/powerpoint/2010/main" val="4099095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7C48F-48BF-4542-053C-E60C192A7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2258E-D4B5-894F-1647-75DA11F202EF}"/>
              </a:ext>
            </a:extLst>
          </p:cNvPr>
          <p:cNvSpPr>
            <a:spLocks noGrp="1"/>
          </p:cNvSpPr>
          <p:nvPr>
            <p:ph type="title"/>
          </p:nvPr>
        </p:nvSpPr>
        <p:spPr/>
        <p:txBody>
          <a:bodyPr/>
          <a:lstStyle/>
          <a:p>
            <a:r>
              <a:rPr lang="de-DE" dirty="0"/>
              <a:t>Nächsten Schritte</a:t>
            </a:r>
            <a:endParaRPr lang="en-GB" dirty="0"/>
          </a:p>
        </p:txBody>
      </p:sp>
      <p:sp>
        <p:nvSpPr>
          <p:cNvPr id="3" name="Content Placeholder 2">
            <a:extLst>
              <a:ext uri="{FF2B5EF4-FFF2-40B4-BE49-F238E27FC236}">
                <a16:creationId xmlns:a16="http://schemas.microsoft.com/office/drawing/2014/main" id="{FBCDB72B-E996-48F0-6367-99A577D8A7D5}"/>
              </a:ext>
            </a:extLst>
          </p:cNvPr>
          <p:cNvSpPr>
            <a:spLocks noGrp="1"/>
          </p:cNvSpPr>
          <p:nvPr>
            <p:ph idx="1"/>
          </p:nvPr>
        </p:nvSpPr>
        <p:spPr/>
        <p:txBody>
          <a:bodyPr>
            <a:normAutofit/>
          </a:bodyPr>
          <a:lstStyle/>
          <a:p>
            <a:pPr marL="0" indent="0" algn="just">
              <a:buNone/>
            </a:pPr>
            <a:r>
              <a:rPr lang="de-DE" dirty="0"/>
              <a:t>Der Plan sieht vor, sie während der gesamten zweiten Hälfte der Saison 2025-26 zu testen. Die nächsten Schritte wären: </a:t>
            </a:r>
          </a:p>
          <a:p>
            <a:pPr marL="0" indent="0" algn="just">
              <a:buNone/>
            </a:pPr>
            <a:r>
              <a:rPr lang="de-DE" dirty="0"/>
              <a:t>• Testphase abgeschlossen, Tool funktioniert wie erwartet</a:t>
            </a:r>
          </a:p>
          <a:p>
            <a:pPr marL="0" indent="0" algn="just">
              <a:buNone/>
            </a:pPr>
            <a:r>
              <a:rPr lang="de-DE" dirty="0"/>
              <a:t>• Einführung in allen Teams. Die Vereine können wählen, welche Spielberichtvorlage (Papier oder digital) sie verwenden möchten</a:t>
            </a:r>
          </a:p>
          <a:p>
            <a:pPr marL="0" indent="0" algn="just">
              <a:buNone/>
            </a:pPr>
            <a:r>
              <a:rPr lang="de-DE" dirty="0"/>
              <a:t>• Einführung im Rest der CH – Regional </a:t>
            </a:r>
          </a:p>
          <a:p>
            <a:pPr marL="0" indent="0" algn="just">
              <a:buNone/>
            </a:pPr>
            <a:r>
              <a:rPr lang="de-DE" dirty="0"/>
              <a:t>• Integration mit Volleymanager (automatische Ergebnisse, automatisches Laden der Einsatzliste/Offiziellen-Namen, Datenbank und Backup)</a:t>
            </a:r>
          </a:p>
          <a:p>
            <a:pPr marL="0" indent="0" algn="just">
              <a:buNone/>
            </a:pPr>
            <a:endParaRPr lang="en-GB" dirty="0"/>
          </a:p>
        </p:txBody>
      </p:sp>
      <p:pic>
        <p:nvPicPr>
          <p:cNvPr id="4" name="Picture 3" descr="A green and blue volleyball&#10;&#10;AI-generated content may be incorrect.">
            <a:extLst>
              <a:ext uri="{FF2B5EF4-FFF2-40B4-BE49-F238E27FC236}">
                <a16:creationId xmlns:a16="http://schemas.microsoft.com/office/drawing/2014/main" id="{5A8C32B8-BDF0-6854-C151-C938673121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353" y="-338847"/>
            <a:ext cx="2994498" cy="2994498"/>
          </a:xfrm>
          <a:prstGeom prst="rect">
            <a:avLst/>
          </a:prstGeom>
        </p:spPr>
      </p:pic>
    </p:spTree>
    <p:extLst>
      <p:ext uri="{BB962C8B-B14F-4D97-AF65-F5344CB8AC3E}">
        <p14:creationId xmlns:p14="http://schemas.microsoft.com/office/powerpoint/2010/main" val="3489103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341</Words>
  <Application>Microsoft Office PowerPoint</Application>
  <PresentationFormat>Widescreen</PresentationFormat>
  <Paragraphs>25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Openvolley eScoresheet</vt:lpstr>
      <vt:lpstr>Info</vt:lpstr>
      <vt:lpstr>Jetzt</vt:lpstr>
      <vt:lpstr>Nächsten Schritte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 Canepa</dc:creator>
  <cp:lastModifiedBy>Luca Canepa</cp:lastModifiedBy>
  <cp:revision>3</cp:revision>
  <dcterms:created xsi:type="dcterms:W3CDTF">2026-01-15T09:26:49Z</dcterms:created>
  <dcterms:modified xsi:type="dcterms:W3CDTF">2026-01-15T11:27:44Z</dcterms:modified>
</cp:coreProperties>
</file>